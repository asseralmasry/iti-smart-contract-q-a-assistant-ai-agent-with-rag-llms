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4" d="100"/>
          <a:sy n="84" d="100"/>
        </p:scale>
        <p:origin x="1418" y="8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796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34621" y="757865"/>
            <a:ext cx="6443663" cy="36277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1"/>
          <p:cNvSpPr/>
          <p:nvPr/>
        </p:nvSpPr>
        <p:spPr>
          <a:xfrm>
            <a:off x="1874756" y="1491134"/>
            <a:ext cx="5779293" cy="46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400" b="1" dirty="0">
                <a:solidFill>
                  <a:srgbClr val="1E293B"/>
                </a:solidFill>
              </a:rPr>
              <a:t>Smart Contract Summary &amp; Q&amp;A Assistant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123749" y="2138509"/>
            <a:ext cx="2982227" cy="269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0070C0"/>
                </a:solidFill>
              </a:rPr>
              <a:t>A Production-Ready RAG Solution</a:t>
            </a:r>
          </a:p>
        </p:txBody>
      </p:sp>
      <p:sp>
        <p:nvSpPr>
          <p:cNvPr id="6" name="Text 3"/>
          <p:cNvSpPr/>
          <p:nvPr/>
        </p:nvSpPr>
        <p:spPr>
          <a:xfrm>
            <a:off x="2430970" y="2561877"/>
            <a:ext cx="4662911" cy="21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B050"/>
                </a:solidFill>
              </a:rPr>
              <a:t>High‑precision Retrieval-Augmented Generation with Google's Gemini.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0DECF4E-066E-5841-2DF0-5982BBB761F7}"/>
              </a:ext>
            </a:extLst>
          </p:cNvPr>
          <p:cNvSpPr/>
          <p:nvPr/>
        </p:nvSpPr>
        <p:spPr>
          <a:xfrm>
            <a:off x="3688997" y="3533519"/>
            <a:ext cx="3404884" cy="25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ENG. Asser Almasry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723"/>
            <a:ext cx="9144000" cy="47511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</a:rPr>
              <a:t>Comprehensive Technology Stack Powering the Assistant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71525" y="1288080"/>
            <a:ext cx="91723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kern="0" spc="1" dirty="0">
                <a:solidFill>
                  <a:srgbClr val="1E293B"/>
                </a:solidFill>
              </a:rPr>
              <a:t>AI &amp; Frameworks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1525" y="1605976"/>
            <a:ext cx="495328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B82F6"/>
                </a:solidFill>
              </a:rPr>
              <a:t>LangChain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1525" y="1789928"/>
            <a:ext cx="2324091" cy="27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Orchestrates the RAG pipeline with modular LCEL logic.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1525" y="2177086"/>
            <a:ext cx="791883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B82F6"/>
                </a:solidFill>
              </a:rPr>
              <a:t>Gemini 2.5 Flash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1525" y="2361037"/>
            <a:ext cx="2324091" cy="27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High-speed reasoning and natural language generation.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1525" y="2748195"/>
            <a:ext cx="605935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B82F6"/>
                </a:solidFill>
              </a:rPr>
              <a:t>HuggingFace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1525" y="2932147"/>
            <a:ext cx="1965282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Local embeddings using all-MiniLM-L6-v2.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509953" y="1288080"/>
            <a:ext cx="112146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kern="0" spc="1" dirty="0">
                <a:solidFill>
                  <a:srgbClr val="1E293B"/>
                </a:solidFill>
              </a:rPr>
              <a:t>Storage &amp; Processing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509953" y="1605976"/>
            <a:ext cx="541815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B82F6"/>
                </a:solidFill>
              </a:rPr>
              <a:t>Chroma DB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509953" y="1789928"/>
            <a:ext cx="232409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High-performance vector database for semantic retrieval.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509953" y="2177086"/>
            <a:ext cx="464871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B82F6"/>
                </a:solidFill>
              </a:rPr>
              <a:t>PyMuPDF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509953" y="2361037"/>
            <a:ext cx="2005357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Robust PDF text extraction and processing.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509953" y="2608194"/>
            <a:ext cx="426399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B82F6"/>
                </a:solidFill>
              </a:rPr>
              <a:t>Docx2txt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509953" y="2792146"/>
            <a:ext cx="2324091" cy="27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Specialized loader for Microsoft Word documents.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48381" y="1288080"/>
            <a:ext cx="95930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kern="0" spc="1" dirty="0">
                <a:solidFill>
                  <a:srgbClr val="1E293B"/>
                </a:solidFill>
              </a:rPr>
              <a:t>Interface &amp; Safety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48381" y="1605976"/>
            <a:ext cx="327013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B82F6"/>
                </a:solidFill>
              </a:rPr>
              <a:t>Gradio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48381" y="1789928"/>
            <a:ext cx="2191306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Professional web interface for document Q&amp;A.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48381" y="2037085"/>
            <a:ext cx="488916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B82F6"/>
                </a:solidFill>
              </a:rPr>
              <a:t>LangServe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48381" y="2221037"/>
            <a:ext cx="2276264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Exposes the RAG chain as a production REST API.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248381" y="2468194"/>
            <a:ext cx="823944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B82F6"/>
                </a:solidFill>
              </a:rPr>
              <a:t>NeMo Guardrails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48381" y="2652145"/>
            <a:ext cx="2324119" cy="27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Multi-layered safety and hallucination prevention.</a:t>
            </a:r>
            <a:endParaRPr lang="en-US" sz="9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4C7F0D2-D824-D909-1D90-224981F50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75" y="3314935"/>
            <a:ext cx="7245310" cy="158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A5564CC0-8379-E009-9A7F-DDC116C75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5" y="772345"/>
            <a:ext cx="9144000" cy="1293814"/>
          </a:xfrm>
          <a:prstGeom prst="rect">
            <a:avLst/>
          </a:prstGeom>
        </p:spPr>
      </p:pic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B286310C-18B8-46C8-F9FF-D940B7DA7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575" y="1800654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3" y="1694150"/>
            <a:ext cx="9144000" cy="12938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1209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</a:rPr>
              <a:t>Precision Retrieval and Generation with Gemini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87277" y="1065154"/>
            <a:ext cx="873637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70C0"/>
                </a:solidFill>
              </a:rPr>
              <a:t>Semantic Search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87277" y="1275206"/>
            <a:ext cx="3514725" cy="344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Identifies the top 5 most relevant document chunks for every query using high-dimensional vector similarity.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87277" y="1800654"/>
            <a:ext cx="1229504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70C0"/>
                </a:solidFill>
              </a:rPr>
              <a:t>Contextual Intelligence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87277" y="2040012"/>
            <a:ext cx="3514725" cy="344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Gemini 2.5 Flash-Lite processes retrieved context to generate answers strictly grounded in the source text.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02089" y="1065154"/>
            <a:ext cx="803105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70C0"/>
                </a:solidFill>
              </a:rPr>
              <a:t>Expert Persona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002089" y="1275206"/>
            <a:ext cx="3514725" cy="344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LLM is prompted as a "Legal and Technical Analyst," ensuring professional tone and precise terminology.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02089" y="1800654"/>
            <a:ext cx="1247136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70C0"/>
                </a:solidFill>
              </a:rPr>
              <a:t>Zero-Speculation Policy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5002089" y="2040012"/>
            <a:ext cx="3514725" cy="344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Built-in instructions prevent the model from hallucinating or speculating beyond the provided contract terms.</a:t>
            </a:r>
            <a:endParaRPr lang="en-US" sz="9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FAF9743B-4009-B56B-9D26-9B1DA39E91CA}"/>
              </a:ext>
            </a:extLst>
          </p:cNvPr>
          <p:cNvSpPr/>
          <p:nvPr/>
        </p:nvSpPr>
        <p:spPr>
          <a:xfrm>
            <a:off x="571500" y="2611326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</a:rPr>
              <a:t>Seamless Interaction via Gradio and LangServe</a:t>
            </a:r>
            <a:endParaRPr lang="en-US" sz="1602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1D64B891-7996-59DA-F68B-C1C64F0E86E2}"/>
              </a:ext>
            </a:extLst>
          </p:cNvPr>
          <p:cNvSpPr/>
          <p:nvPr/>
        </p:nvSpPr>
        <p:spPr>
          <a:xfrm>
            <a:off x="725364" y="3105540"/>
            <a:ext cx="585097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0C0"/>
                </a:solidFill>
              </a:rPr>
              <a:t>Intuitive UI</a:t>
            </a:r>
            <a:endParaRPr lang="en-US" sz="987" dirty="0">
              <a:solidFill>
                <a:srgbClr val="0070C0"/>
              </a:solidFill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E5096328-6B1C-195C-0224-ACD2E9917C6B}"/>
              </a:ext>
            </a:extLst>
          </p:cNvPr>
          <p:cNvSpPr/>
          <p:nvPr/>
        </p:nvSpPr>
        <p:spPr>
          <a:xfrm>
            <a:off x="725364" y="3371645"/>
            <a:ext cx="3743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Professional Gradio interface with a dual-panel layout for document management and interactive chat.</a:t>
            </a:r>
            <a:endParaRPr lang="en-US" sz="834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AE0F8DEF-396E-6E45-8388-540F05FB8922}"/>
              </a:ext>
            </a:extLst>
          </p:cNvPr>
          <p:cNvSpPr/>
          <p:nvPr/>
        </p:nvSpPr>
        <p:spPr>
          <a:xfrm>
            <a:off x="4811589" y="3096746"/>
            <a:ext cx="1051570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0C0"/>
                </a:solidFill>
              </a:rPr>
              <a:t>Real-Time Feedback</a:t>
            </a:r>
            <a:endParaRPr lang="en-US" sz="987" dirty="0">
              <a:solidFill>
                <a:srgbClr val="0070C0"/>
              </a:solidFill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47638C2D-66AE-63EE-8CC0-12A14207BE60}"/>
              </a:ext>
            </a:extLst>
          </p:cNvPr>
          <p:cNvSpPr/>
          <p:nvPr/>
        </p:nvSpPr>
        <p:spPr>
          <a:xfrm>
            <a:off x="4811589" y="3362851"/>
            <a:ext cx="3743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Instant ingestion status, chunk counts, and interactive Q&amp;A with formatted citations.</a:t>
            </a:r>
            <a:endParaRPr lang="en-US" sz="834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43B46692-5B40-E415-CE1D-F745126F7A98}"/>
              </a:ext>
            </a:extLst>
          </p:cNvPr>
          <p:cNvSpPr/>
          <p:nvPr/>
        </p:nvSpPr>
        <p:spPr>
          <a:xfrm>
            <a:off x="725364" y="3885995"/>
            <a:ext cx="822341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0C0"/>
                </a:solidFill>
              </a:rPr>
              <a:t>API-First Design</a:t>
            </a:r>
            <a:endParaRPr lang="en-US" sz="987" dirty="0">
              <a:solidFill>
                <a:srgbClr val="0070C0"/>
              </a:solidFill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4E8EE2B2-9460-17F1-A35B-C3FE7C70BABB}"/>
              </a:ext>
            </a:extLst>
          </p:cNvPr>
          <p:cNvSpPr/>
          <p:nvPr/>
        </p:nvSpPr>
        <p:spPr>
          <a:xfrm>
            <a:off x="725364" y="4152099"/>
            <a:ext cx="3743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Integrated LangServe exposes the RAG chain as a REST API for enterprise workflow integration.</a:t>
            </a:r>
            <a:endParaRPr lang="en-US" sz="834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1031EDE2-D7D1-5587-1648-F31456D7BC4C}"/>
              </a:ext>
            </a:extLst>
          </p:cNvPr>
          <p:cNvSpPr/>
          <p:nvPr/>
        </p:nvSpPr>
        <p:spPr>
          <a:xfrm>
            <a:off x="4811589" y="3877201"/>
            <a:ext cx="1001877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0C0"/>
                </a:solidFill>
              </a:rPr>
              <a:t>Developer-Friendly</a:t>
            </a:r>
            <a:endParaRPr lang="en-US" sz="987" dirty="0">
              <a:solidFill>
                <a:srgbClr val="0070C0"/>
              </a:solidFill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C5A05CD8-F513-9387-5893-BF246C2717CF}"/>
              </a:ext>
            </a:extLst>
          </p:cNvPr>
          <p:cNvSpPr/>
          <p:nvPr/>
        </p:nvSpPr>
        <p:spPr>
          <a:xfrm>
            <a:off x="4811589" y="4143305"/>
            <a:ext cx="3743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Built-in sample contracts and "Clear Database" functionality for rapid testing and iteration.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276</Words>
  <Application>Microsoft Office PowerPoint</Application>
  <PresentationFormat>On-screen Show (16:9)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Aser Mohamed</dc:creator>
  <cp:lastModifiedBy>Aser Mohamed</cp:lastModifiedBy>
  <cp:revision>2</cp:revision>
  <dcterms:created xsi:type="dcterms:W3CDTF">2026-02-20T02:53:22Z</dcterms:created>
  <dcterms:modified xsi:type="dcterms:W3CDTF">2026-02-20T03:09:09Z</dcterms:modified>
</cp:coreProperties>
</file>